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920240"/>
            <a:ext cx="73152" cy="219456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</a:rPr>
              <a:t>NutriScan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9BBDD"/>
                </a:solidFill>
              </a:rPr>
              <a:t>Rastreio nutricional e comparação de preços em supermercado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94760"/>
            <a:ext cx="4572000" cy="1270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7799"/>
                </a:solidFill>
              </a:rPr>
              <a:t>Computação Móvel  |  2025/26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688"/>
                </a:solidFill>
              </a:rPr>
              <a:t>Prof. Bruno Pereira  |  Prof. Paula Miranda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Samuel Silva (202200315)   •   Afonso Martinho (202001865)
Daniel Pais (202200286)   •   Fernando Ramalho (202002203)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01  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 que é o NutriScan?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E8FF"/>
                </a:solidFill>
              </a:rPr>
              <a:t>Aplicação móvel Flutter que une dois domínios habitualmente separados: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5394960" cy="210312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Rastreio Nutricional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Digitalizar produtos pelo código de barras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Ficha nutricional completa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Registar refeições e água diariamente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Acompanhar progresso face a objetivos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331720"/>
            <a:ext cx="5394960" cy="210312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23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Comparação de Preços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83464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Registar preço visto em qualquer loja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Cálculo automático de preço por kg/L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Comparar opções entre lojas e marcas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Destaque da opção mais barata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11247120" cy="685800"/>
          </a:xfrm>
          <a:prstGeom prst="rect">
            <a:avLst/>
          </a:prstGeom>
          <a:solidFill>
            <a:srgbClr val="003022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8E"/>
                </a:solidFill>
              </a:rPr>
              <a:t>Problema: apps de nutrição não têm preços  •  Usar inúmeras apps para atingir um objetivo único  •  NutriScan resolve ambos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02  PÚBLICO-ALVO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Quem usa o NutriScan?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BBDD"/>
                </a:solidFill>
              </a:rPr>
              <a:t>Pessoas que querem comer melhor e gastar menos no supermercado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51760" cy="210312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Jovens e Estudantes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Orçamento controlado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Quer escolhas mais inteligentes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Habituados a apps móveis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103120"/>
            <a:ext cx="2651760" cy="210312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Objetivos de Saúde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0604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Perda de peso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Ganho de massa muscular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Manutenção de saúde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2651760" cy="210312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Compradores Conscientes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Fazem as próprias compras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Querem decisões mais informadas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Comparam preços manualmente hoje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103120"/>
            <a:ext cx="2651760" cy="210312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1945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Dietas Específicas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60604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Controlo rigoroso de macros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Precisam de saber exatamente o que comem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Contagem calórica diária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03  FUNCIONALIDADES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Funcionalidades comuns a qualquer app móvel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CE8FF"/>
                </a:solidFill>
              </a:rPr>
              <a:t>•  Splash Screen – verificação de sessão no arranque</a:t>
            </a:r>
          </a:p>
          <a:p>
            <a:pPr algn="l"/>
            <a:r>
              <a:rPr sz="1500">
                <a:solidFill>
                  <a:srgbClr val="CCE8FF"/>
                </a:solidFill>
              </a:rPr>
              <a:t>•  Onboarding – wizard antes do registo (dados, objetivo, cálculo TMB)</a:t>
            </a:r>
          </a:p>
          <a:p>
            <a:pPr algn="l"/>
            <a:r>
              <a:rPr sz="1500">
                <a:solidFill>
                  <a:srgbClr val="CCE8FF"/>
                </a:solidFill>
              </a:rPr>
              <a:t>•  Autenticação – registo e login via Firebase Auth</a:t>
            </a:r>
          </a:p>
          <a:p>
            <a:pPr algn="l"/>
            <a:r>
              <a:rPr sz="1500">
                <a:solidFill>
                  <a:srgbClr val="CCE8FF"/>
                </a:solidFill>
              </a:rPr>
              <a:t>•  Sessão persistente – sem re-login entre sessões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92024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CE8FF"/>
                </a:solidFill>
              </a:rPr>
              <a:t>•  Navegação – bottom nav 4 tabs + stack para detalhes</a:t>
            </a:r>
          </a:p>
          <a:p>
            <a:pPr algn="l"/>
            <a:r>
              <a:rPr sz="1500">
                <a:solidFill>
                  <a:srgbClr val="CCE8FF"/>
                </a:solidFill>
              </a:rPr>
              <a:t>•  Estado das tabs preservado ao alternar</a:t>
            </a:r>
          </a:p>
          <a:p>
            <a:pPr algn="l"/>
            <a:r>
              <a:rPr sz="1500">
                <a:solidFill>
                  <a:srgbClr val="CCE8FF"/>
                </a:solidFill>
              </a:rPr>
              <a:t>•  Perfil e Definições – objetivos, notificações, logout</a:t>
            </a:r>
          </a:p>
          <a:p>
            <a:pPr algn="l"/>
            <a:r>
              <a:rPr sz="1500">
                <a:solidFill>
                  <a:srgbClr val="CCE8FF"/>
                </a:solidFill>
              </a:rPr>
              <a:t>•  Créditos – autores, UC, ano letivo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828800"/>
            <a:ext cx="25400" cy="3474720"/>
          </a:xfrm>
          <a:prstGeom prst="rect">
            <a:avLst/>
          </a:prstGeom>
          <a:solidFill>
            <a:srgbClr val="1E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03  FUNCIONALIDADES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BBDD"/>
                </a:solidFill>
              </a:rPr>
              <a:t>Primeira interação — acontece antes do registo, "agarra" logo o utilizador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solidFill>
            <a:srgbClr val="00503A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C88E"/>
                </a:solidFill>
              </a:rPr>
              <a:t>1. Dados Pessoais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F"/>
                </a:solidFill>
              </a:rPr>
              <a:t>Nome, idade, peso,
altura, sexo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67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8E"/>
                </a:solidFill>
              </a:rPr>
              <a:t>&gt;&gt;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solidFill>
            <a:srgbClr val="00503A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C88E"/>
                </a:solidFill>
              </a:rPr>
              <a:t>2. 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606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F"/>
                </a:solidFill>
              </a:rPr>
              <a:t>Perder peso /
Manter / Ganhar massa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67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8E"/>
                </a:solidFill>
              </a:rPr>
              <a:t>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solidFill>
            <a:srgbClr val="00503A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C88E"/>
                </a:solidFill>
              </a:rPr>
              <a:t>3. Cálculo 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F"/>
                </a:solidFill>
              </a:rPr>
              <a:t>Fórmula Mifflin-St Jeor
TMB + fator atividade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67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8E"/>
                </a:solidFill>
              </a:rPr>
              <a:t>&gt;&gt;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2011680"/>
            <a:ext cx="2560320" cy="457200"/>
          </a:xfrm>
          <a:prstGeom prst="rect">
            <a:avLst/>
          </a:prstGeom>
          <a:solidFill>
            <a:srgbClr val="00503A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0C88E"/>
                </a:solidFill>
              </a:rPr>
              <a:t>4. Confirmar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606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8FF"/>
                </a:solidFill>
              </a:rPr>
              <a:t>Utilizador revê e
ajusta os valores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Fórmula TMB (Mifflin-St Jeor)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51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Homem:  TMB = 10 × peso + 6.25 × altura − 5 × idade + 5
Mulher: TMB = 10 × peso + 6.25 × altura − 5 × idade − 161
Calorias = TMB × fator de atividade  (±300 kcal por objetivo)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BBDD"/>
                </a:solidFill>
              </a:rPr>
              <a:t>Macros:  Proteína = 2.0g × peso  |  Gordura = 25% calorias ÷ 9  |  Hidratos = restante ÷ 4  |  Água = 35ml × peso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04  FUNCIONALIDADES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Produtos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BBDD"/>
                </a:solidFill>
              </a:rPr>
              <a:t>Repositório de alimentos do utilizador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474720" cy="237744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Scanner (Código de Barras)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Câmara em tempo real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Consulta OpenFoodFacts por barcode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Nome, marca, possivelmente imagem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Tabela nutricional por 100g/ml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Guardar produto para uso futuro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474720" cy="237744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01168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Pesquisa por Nome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Para alimentos sem código de barras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Fonte 1: OpenFoodFacts (embalados)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Fonte 2: USDA FoodData Central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Fallback automático OFF → USDA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Resultado no mesmo modelo de dados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920240"/>
            <a:ext cx="3566160" cy="237744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Registo de Preços em Loja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423160"/>
            <a:ext cx="3291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Registar preço (€) + loja + quantidade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Cálculo automático preço/kg ou /L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Comparação entre lojas e embalagens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Destaque da opção mais económica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11247120" cy="137160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Lista de Produtos Guardados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29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Todos os produtos já digitalizados ou pesquisados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Pesquisa local para filtrar rapidamente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Indicador de fonte: OFF / USDA / 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04  FUNCIONALIDADES ESPECÍFICAS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Refeições e Histórico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BBDD"/>
                </a:solidFill>
              </a:rPr>
              <a:t>Diário alimentar e visão retrospetiva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394960" cy="201168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Registo de Refeições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PA, Almoço, Jantar, Snack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Quantidade consumida (g ou ml)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Cálculo nutricional por porção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Barras de progresso face a objetivos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5394960" cy="164592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2062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Registo de Água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1772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Botões rápidos: 200ml, 330ml, 500ml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Campo manual para valor personalizado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Barra de progresso face ao objetivo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394960" cy="155448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Histórico – Vista 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Navegar entre dias ou por calendário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Ver refeições + totais nutricionais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Comparação com objetivos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657600"/>
            <a:ext cx="5394960" cy="155448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490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Histórico – Vista Semana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6052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Gráfico de barras: calorias por dia (7d)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Médias semanais por macro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Destaque dias acima/abaixo do objetivo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5394960"/>
            <a:ext cx="5394960" cy="1280160"/>
          </a:xfrm>
          <a:prstGeom prst="rect">
            <a:avLst/>
          </a:prstGeom>
          <a:solidFill>
            <a:srgbClr val="1A2845"/>
          </a:solidFill>
          <a:ln w="12700">
            <a:solidFill>
              <a:srgbClr val="00C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486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Histórico – Vista 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8978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CCE8FF"/>
                </a:solidFill>
              </a:rPr>
              <a:t>•  Calendário com cor por dia (verde/vermelho/cinza)</a:t>
            </a:r>
          </a:p>
          <a:p>
            <a:pPr algn="l"/>
            <a:r>
              <a:rPr sz="1200">
                <a:solidFill>
                  <a:srgbClr val="CCE8FF"/>
                </a:solidFill>
              </a:rPr>
              <a:t>•  Resumo mensal: média diária, dias com registo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05  ORIGINALIDADE E MAIS-VALIAS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 que nos diferencia?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01952"/>
            <a:ext cx="201168" cy="20116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Nutrição + preços na mesma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Um local só, organizado e fácil de utilizar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901952"/>
            <a:ext cx="201168" cy="20116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Dupla fonte de dados nutricional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7627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OpenFoodFacts (embalados) + USDA (genéricos)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19272"/>
            <a:ext cx="201168" cy="20116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Onboarding com cálculo científico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935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Objetivos calculados com fórmula Mifflin-St Jeor, não valores genéricos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319272"/>
            <a:ext cx="201168" cy="20116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2461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Registo de água integrado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9359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Visão completa de ingestão diária, não apenas alimentos sólidos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36592"/>
            <a:ext cx="201168" cy="20116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Preço por kg/L automático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1091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Comparação justa entre embalagens de tamanhos diferentes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736592"/>
            <a:ext cx="201168" cy="201168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8E"/>
                </a:solidFill>
              </a:rPr>
              <a:t>Histórico multi-escala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010912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F"/>
                </a:solidFill>
              </a:rPr>
              <a:t>Dia / semana / mês: identifica padrões ao longo do tempo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06  ESQUEMA DE NAVEGAÇÃO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Fluxo entre ecrãs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C88E"/>
                </a:solidFill>
                <a:latin typeface="Courier New"/>
              </a:rPr>
              <a:t>SplashScreen</a:t>
            </a:r>
          </a:p>
          <a:p>
            <a:r>
              <a:rPr sz="1400" b="0">
                <a:solidFill>
                  <a:srgbClr val="CCE8FF"/>
                </a:solidFill>
                <a:latin typeface="Courier New"/>
              </a:rPr>
              <a:t>  |-- (1ª vez)        --&gt;  Onboarding (4 steps)  --&gt;  Register  --&gt;  Login  --&gt;  Home</a:t>
            </a:r>
          </a:p>
          <a:p>
            <a:r>
              <a:rPr sz="1400" b="0">
                <a:solidFill>
                  <a:srgbClr val="CCE8FF"/>
                </a:solidFill>
                <a:latin typeface="Courier New"/>
              </a:rPr>
              <a:t>  |-- (sessão ativa)  --&gt;  Home</a:t>
            </a:r>
          </a:p>
          <a:p>
            <a:r>
              <a:rPr sz="1400" b="0">
                <a:solidFill>
                  <a:srgbClr val="CCE8FF"/>
                </a:solidFill>
                <a:latin typeface="Courier New"/>
              </a:rPr>
              <a:t/>
            </a:r>
          </a:p>
          <a:p>
            <a:r>
              <a:rPr sz="1400" b="1">
                <a:solidFill>
                  <a:srgbClr val="00C88E"/>
                </a:solidFill>
                <a:latin typeface="Courier New"/>
              </a:rPr>
              <a:t>Home  --&gt;  Perfil  --&gt;  Definições  --&gt;  Créditos</a:t>
            </a:r>
          </a:p>
          <a:p>
            <a:r>
              <a:rPr sz="1400" b="1">
                <a:solidFill>
                  <a:srgbClr val="00C88E"/>
                </a:solidFill>
                <a:latin typeface="Courier New"/>
              </a:rPr>
              <a:t>Home  --&gt;  Histórico  (Dia / Semana / Mês)</a:t>
            </a:r>
          </a:p>
          <a:p>
            <a:r>
              <a:rPr sz="1400" b="0">
                <a:solidFill>
                  <a:srgbClr val="CCE8FF"/>
                </a:solidFill>
                <a:latin typeface="Courier New"/>
              </a:rPr>
              <a:t/>
            </a:r>
          </a:p>
          <a:p>
            <a:r>
              <a:rPr sz="1400" b="1">
                <a:solidFill>
                  <a:srgbClr val="00C88E"/>
                </a:solidFill>
                <a:latin typeface="Courier New"/>
              </a:rPr>
              <a:t>Refeições  --&gt;  Adicionar  --&gt;  Pesquisa / Scanner / Guardados  --&gt;  ProductDetail</a:t>
            </a:r>
          </a:p>
          <a:p>
            <a:r>
              <a:rPr sz="1400" b="0">
                <a:solidFill>
                  <a:srgbClr val="CCE8FF"/>
                </a:solidFill>
                <a:latin typeface="Courier New"/>
              </a:rPr>
              <a:t/>
            </a:r>
          </a:p>
          <a:p>
            <a:r>
              <a:rPr sz="1400" b="1">
                <a:solidFill>
                  <a:srgbClr val="00C88E"/>
                </a:solidFill>
                <a:latin typeface="Courier New"/>
              </a:rPr>
              <a:t>Produtos   --&gt;  ProductDetail  --&gt;  Registar Preço  --&gt;  Lista de Preços</a:t>
            </a:r>
          </a:p>
          <a:p>
            <a:r>
              <a:rPr sz="1400" b="0">
                <a:solidFill>
                  <a:srgbClr val="CCE8FF"/>
                </a:solidFill>
                <a:latin typeface="Courier New"/>
              </a:rPr>
              <a:t/>
            </a:r>
          </a:p>
          <a:p>
            <a:r>
              <a:rPr sz="1400" b="1">
                <a:solidFill>
                  <a:srgbClr val="00C88E"/>
                </a:solidFill>
                <a:latin typeface="Courier New"/>
              </a:rPr>
              <a:t>Scan (tab) --&gt;  ScannerScreen  --&gt;  ProductDetail</a:t>
            </a:r>
          </a:p>
          <a:p>
            <a:r>
              <a:rPr sz="1400" b="0">
                <a:solidFill>
                  <a:srgbClr val="CCE8FF"/>
                </a:solidFill>
                <a:latin typeface="Courier New"/>
              </a:rPr>
              <a:t>                |-- Inserir manualmente  --&gt;  SearchScreen  --&gt;  ProductDetail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097280" cy="50800"/>
          </a:xfrm>
          <a:prstGeom prst="rect">
            <a:avLst/>
          </a:prstGeom>
          <a:solidFill>
            <a:srgbClr val="00C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8E"/>
                </a:solidFill>
              </a:rPr>
              <a:t>07  STACK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Tecnologias utilizadas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5394960" cy="566928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6595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6595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Flutter (Dart)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87752"/>
            <a:ext cx="5394960" cy="56692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79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Gestão de estado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791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Riverpod (ex.)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00984"/>
            <a:ext cx="5394960" cy="566928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392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Autenticação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3924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Firebase Authentication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14215"/>
            <a:ext cx="5394960" cy="56692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0565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Base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10565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Cloud Firestore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27448"/>
            <a:ext cx="5394960" cy="566928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188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API embalados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8188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OpenFoodFacts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440680"/>
            <a:ext cx="5394960" cy="56692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5321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API genéricos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5321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USDA FoodData Central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74519"/>
            <a:ext cx="5394960" cy="566928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5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Barcode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965959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mobile_scanner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587752"/>
            <a:ext cx="5394960" cy="56692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67919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HTTP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6791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dio (ex.)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300984"/>
            <a:ext cx="5394960" cy="566928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392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Notificações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39242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flutter_local_notifications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014215"/>
            <a:ext cx="5394960" cy="566928"/>
          </a:xfrm>
          <a:prstGeom prst="rect">
            <a:avLst/>
          </a:prstGeom>
          <a:solidFill>
            <a:srgbClr val="1A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105655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Gráficos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105655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fl_chart (ex.)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727448"/>
            <a:ext cx="5394960" cy="566928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8188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BBDD"/>
                </a:solidFill>
              </a:rPr>
              <a:t>Arquitetura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8188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Clean Arch. – data / domain /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